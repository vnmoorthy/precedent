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9AA0A6"/>
                </a:solidFill>
                <a:latin typeface="Barlow"/>
              </a:rPr>
              <a:t>THE FAST HACKATHON · GREPTILE × Y COMBINATOR · 08.23.2026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</a:pPr>
            <a:r>
              <a:rPr sz="6600" b="1">
                <a:solidFill>
                  <a:srgbClr val="FFFFFF"/>
                </a:solidFill>
                <a:latin typeface="Barlow"/>
              </a:rPr>
              <a:t>SAY IT ONCE.
IT HOLDS FOREVER.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0">
                <a:solidFill>
                  <a:srgbClr val="9AA0A6"/>
                </a:solidFill>
                <a:latin typeface="Barlow"/>
              </a:rPr>
              <a:t>Code-review rulings, enforced at the moment the agent writes.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4A4F55"/>
                </a:solidFill>
                <a:latin typeface="Barlow"/>
              </a:rPr>
              <a:t>PRECEDENT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9AA0A6"/>
                </a:solidFill>
                <a:latin typeface="Barlow"/>
              </a:rPr>
              <a:t>01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9875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Barlow"/>
              </a:rPr>
              <a:t>"For the cost of hundreds of CPU hours but only 2 or 3 minutes of their
time, I'm now expected to review this."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9AA0A6"/>
                </a:solidFill>
                <a:latin typeface="Barlow"/>
              </a:rPr>
              <a:t>R/EXPERIENCEDDEVS · 1.9K UPVOTES · 438 COMMENTS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900" b="0">
                <a:solidFill>
                  <a:srgbClr val="9AA0A6"/>
                </a:solidFill>
                <a:latin typeface="Barlow"/>
              </a:rPr>
              <a:t>—  AI-generated PRs wait ~5× longer for first review (median review time +441% — Faros, 22,000 devs)</a:t>
            </a:r>
          </a:p>
          <a:p>
            <a:pPr>
              <a:lnSpc>
                <a:spcPct val="135000"/>
              </a:lnSpc>
            </a:pPr>
            <a:r>
              <a:rPr sz="1900" b="0">
                <a:solidFill>
                  <a:srgbClr val="9AA0A6"/>
                </a:solidFill>
                <a:latin typeface="Barlow"/>
              </a:rPr>
              <a:t>—  The code owner writes the same objection eleven times</a:t>
            </a:r>
          </a:p>
          <a:p>
            <a:pPr>
              <a:lnSpc>
                <a:spcPct val="135000"/>
              </a:lnSpc>
            </a:pPr>
            <a:r>
              <a:rPr sz="1900" b="0">
                <a:solidFill>
                  <a:srgbClr val="9AA0A6"/>
                </a:solidFill>
                <a:latin typeface="Barlow"/>
              </a:rPr>
              <a:t>—  Every fresh agent session starts from zero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9AA0A6"/>
                </a:solidFill>
                <a:latin typeface="Barlow"/>
              </a:rPr>
              <a:t>02 · WHY NOTHING HOLDS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</a:pPr>
            <a:r>
              <a:rPr sz="5400" b="1">
                <a:solidFill>
                  <a:srgbClr val="FFFFFF"/>
                </a:solidFill>
                <a:latin typeface="Barlow"/>
              </a:rPr>
              <a:t>SUGGESTIONS ARE
NOT ENFORCEMENT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900" b="0">
                <a:solidFill>
                  <a:srgbClr val="9AA0A6"/>
                </a:solidFill>
                <a:latin typeface="Barlow"/>
              </a:rPr>
              <a:t>—  Rules files — dropped under context pressure; the model treats them as advice</a:t>
            </a:r>
          </a:p>
          <a:p>
            <a:pPr>
              <a:lnSpc>
                <a:spcPct val="135000"/>
              </a:lnSpc>
            </a:pPr>
            <a:r>
              <a:rPr sz="1900" b="0">
                <a:solidFill>
                  <a:srgbClr val="9AA0A6"/>
                </a:solidFill>
                <a:latin typeface="Barlow"/>
              </a:rPr>
              <a:t>—  Review bots — catch it after the PR exists, on the reviewer's clock</a:t>
            </a:r>
          </a:p>
          <a:p>
            <a:pPr>
              <a:lnSpc>
                <a:spcPct val="135000"/>
              </a:lnSpc>
            </a:pPr>
            <a:r>
              <a:rPr sz="1900" b="0">
                <a:solidFill>
                  <a:srgbClr val="9AA0A6"/>
                </a:solidFill>
                <a:latin typeface="Barlow"/>
              </a:rPr>
              <a:t>—  Nobody makes the team's past decisions binding at write time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9AA0A6"/>
                </a:solidFill>
                <a:latin typeface="Barlow"/>
              </a:rPr>
              <a:t>03 · 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</a:pPr>
            <a:r>
              <a:rPr sz="5400" b="1">
                <a:solidFill>
                  <a:srgbClr val="FFFFFF"/>
                </a:solidFill>
                <a:latin typeface="Barlow"/>
              </a:rPr>
              <a:t>MINE · REMEMBER · ENFORCE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900" b="0">
                <a:solidFill>
                  <a:srgbClr val="9AA0A6"/>
                </a:solidFill>
                <a:latin typeface="Barlow"/>
              </a:rPr>
              <a:t>—  Mine recurring review objections into typed rulings — rule, path scope, origin PR, recurrence</a:t>
            </a:r>
          </a:p>
          <a:p>
            <a:pPr>
              <a:lnSpc>
                <a:spcPct val="135000"/>
              </a:lnSpc>
            </a:pPr>
            <a:r>
              <a:rPr sz="1900" b="0">
                <a:solidFill>
                  <a:srgbClr val="9AA0A6"/>
                </a:solidFill>
                <a:latin typeface="Barlow"/>
              </a:rPr>
              <a:t>—  Remember them in claude-mem — typed, persistent, synced across machines</a:t>
            </a:r>
          </a:p>
          <a:p>
            <a:pPr>
              <a:lnSpc>
                <a:spcPct val="135000"/>
              </a:lnSpc>
            </a:pPr>
            <a:r>
              <a:rPr sz="1900" b="0">
                <a:solidFill>
                  <a:srgbClr val="9AA0A6"/>
                </a:solidFill>
                <a:latin typeface="Barlow"/>
              </a:rPr>
              <a:t>—  Enforce pre-write: violating patches DENIED in milliseconds, original PR cited</a:t>
            </a:r>
          </a:p>
          <a:p>
            <a:pPr>
              <a:lnSpc>
                <a:spcPct val="135000"/>
              </a:lnSpc>
            </a:pPr>
            <a:r>
              <a:rPr sz="1900" b="0">
                <a:solidFill>
                  <a:srgbClr val="9AA0A6"/>
                </a:solidFill>
                <a:latin typeface="Barlow"/>
              </a:rPr>
              <a:t>—  The agent reads the denial and corrects itself — every governed write audited, allow and deny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9AA0A6"/>
                </a:solidFill>
                <a:latin typeface="Barlow"/>
              </a:rPr>
              <a:t>04 · CAPTURED LIVE ·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80160"/>
            <a:ext cx="5760720" cy="4846320"/>
          </a:xfrm>
          <a:prstGeom prst="rect">
            <a:avLst/>
          </a:prstGeom>
          <a:solidFill>
            <a:srgbClr val="050607"/>
          </a:solidFill>
          <a:ln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4A4F55"/>
                </a:solidFill>
                <a:latin typeface="Consolas"/>
              </a:rPr>
              <a:t>$ codex exec "Create src/webhooks/doordash.ts …"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9AA0A6"/>
                </a:solidFill>
                <a:latin typeface="Consolas"/>
              </a:rPr>
              <a:t/>
            </a:r>
          </a:p>
          <a:p>
            <a:pPr>
              <a:lnSpc>
                <a:spcPct val="130000"/>
              </a:lnSpc>
            </a:pPr>
            <a:r>
              <a:rPr sz="1500" b="1">
                <a:solidFill>
                  <a:srgbClr val="FF3B30"/>
                </a:solidFill>
                <a:latin typeface="Consolas"/>
              </a:rPr>
              <a:t>DENIED — ruling #1: verify the webhook signature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A4F55"/>
                </a:solidFill>
                <a:latin typeface="Consolas"/>
              </a:rPr>
              <a:t>First raised in PR #388 · raised 4× · 1.1 ms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9AA0A6"/>
                </a:solidFill>
                <a:latin typeface="Consolas"/>
              </a:rPr>
              <a:t/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A4F55"/>
                </a:solidFill>
                <a:latin typeface="Consolas"/>
              </a:rPr>
              <a:t>codex — rewriting with signature verification…</a:t>
            </a:r>
          </a:p>
          <a:p>
            <a:pPr>
              <a:lnSpc>
                <a:spcPct val="130000"/>
              </a:lnSpc>
            </a:pPr>
            <a:r>
              <a:rPr sz="1500" b="1">
                <a:solidFill>
                  <a:srgbClr val="30D158"/>
                </a:solidFill>
                <a:latin typeface="Consolas"/>
              </a:rPr>
              <a:t>ALLOWED — crypto.timingSafeEqual ·</a:t>
            </a:r>
          </a:p>
          <a:p>
            <a:pPr>
              <a:lnSpc>
                <a:spcPct val="130000"/>
              </a:lnSpc>
            </a:pPr>
            <a:r>
              <a:rPr sz="1500" b="1">
                <a:solidFill>
                  <a:srgbClr val="30D158"/>
                </a:solidFill>
                <a:latin typeface="Consolas"/>
              </a:rPr>
              <a:t>deduped external_delivery_id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0D158"/>
                </a:solidFill>
                <a:latin typeface="Consolas"/>
              </a:rPr>
              <a:t>✓ bun test — pass</a:t>
            </a:r>
          </a:p>
        </p:txBody>
      </p:sp>
      <p:pic>
        <p:nvPicPr>
          <p:cNvPr id="5" name="Picture 4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572000" cy="2857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419252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A4F55"/>
                </a:solidFill>
                <a:latin typeface="Barlow"/>
              </a:rPr>
              <a:t>vnmoorthy.github.io/precedent/demo — interactive replay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9AA0A6"/>
                </a:solidFill>
                <a:latin typeface="Barlow"/>
              </a:rPr>
              <a:t>05 · FLIGHT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</a:pPr>
            <a:r>
              <a:rPr sz="5400" b="1">
                <a:solidFill>
                  <a:srgbClr val="FFFFFF"/>
                </a:solidFill>
                <a:latin typeface="Barlow"/>
              </a:rPr>
              <a:t>DELETE THE MEMORY.
THE BUG RETURNS.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91840"/>
            <a:ext cx="5120640" cy="2011680"/>
          </a:xfrm>
          <a:prstGeom prst="rect">
            <a:avLst/>
          </a:prstGeom>
          <a:solidFill>
            <a:srgbClr val="050607"/>
          </a:solidFill>
          <a:ln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28600"/>
          <a:lstStyle/>
          <a:p>
            <a:pPr algn="ctr"/>
            <a:r>
              <a:rPr sz="1400" b="1">
                <a:solidFill>
                  <a:srgbClr val="30D158"/>
                </a:solidFill>
                <a:latin typeface="Barlow"/>
              </a:rPr>
              <a:t>MEMORY ON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9AA0A6"/>
                </a:solidFill>
                <a:latin typeface="Consolas"/>
              </a:rPr>
              <a:t>✓ compliant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9AA0A6"/>
                </a:solidFill>
                <a:latin typeface="Consolas"/>
              </a:rPr>
              <a:t>verified signature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9AA0A6"/>
                </a:solidFill>
                <a:latin typeface="Consolas"/>
              </a:rPr>
              <a:t>deduped delivery id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3291840"/>
            <a:ext cx="5120640" cy="2011680"/>
          </a:xfrm>
          <a:prstGeom prst="rect">
            <a:avLst/>
          </a:prstGeom>
          <a:solidFill>
            <a:srgbClr val="050607"/>
          </a:solidFill>
          <a:ln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28600"/>
          <a:lstStyle/>
          <a:p>
            <a:pPr algn="ctr"/>
            <a:r>
              <a:rPr sz="1400" b="1">
                <a:solidFill>
                  <a:srgbClr val="FF3B30"/>
                </a:solidFill>
                <a:latin typeface="Barlow"/>
              </a:rPr>
              <a:t>MEMORY OFF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9AA0A6"/>
                </a:solidFill>
                <a:latin typeface="Consolas"/>
              </a:rPr>
              <a:t>✗ violates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9AA0A6"/>
                </a:solidFill>
                <a:latin typeface="Consolas"/>
              </a:rPr>
              <a:t>JSON.parse(req.body)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9AA0A6"/>
                </a:solidFill>
                <a:latin typeface="Consolas"/>
              </a:rPr>
              <a:t>no signature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700" b="0">
                <a:solidFill>
                  <a:srgbClr val="9AA0A6"/>
                </a:solidFill>
                <a:latin typeface="Barlow"/>
              </a:rPr>
              <a:t>Identical task, repo and model. The ruling is the only variable. Machine-classified.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9AA0A6"/>
                </a:solidFill>
                <a:latin typeface="Barlow"/>
              </a:rPr>
              <a:t>06 · ANOMALY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</a:pPr>
            <a:r>
              <a:rPr sz="5400" b="1">
                <a:solidFill>
                  <a:srgbClr val="FFFFFF"/>
                </a:solidFill>
                <a:latin typeface="Barlow"/>
              </a:rPr>
              <a:t>THE AGENT FOUGHT THE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900" b="0">
                <a:solidFill>
                  <a:srgbClr val="9AA0A6"/>
                </a:solidFill>
                <a:latin typeface="Barlow"/>
              </a:rPr>
              <a:t>—  Ruleset v1: zero denials — Codex evaded it twice</a:t>
            </a:r>
          </a:p>
          <a:p>
            <a:pPr>
              <a:lnSpc>
                <a:spcPct val="135000"/>
              </a:lnSpc>
            </a:pPr>
            <a:r>
              <a:rPr sz="1900" b="0">
                <a:solidFill>
                  <a:srgbClr val="9AA0A6"/>
                </a:solidFill>
                <a:latin typeface="Barlow"/>
              </a:rPr>
              <a:t>—  Dodged the pattern via a parameter rename</a:t>
            </a:r>
          </a:p>
          <a:p>
            <a:pPr>
              <a:lnSpc>
                <a:spcPct val="135000"/>
              </a:lnSpc>
            </a:pPr>
            <a:r>
              <a:rPr sz="1900" b="0">
                <a:solidFill>
                  <a:srgbClr val="9AA0A6"/>
                </a:solidFill>
                <a:latin typeface="Barlow"/>
              </a:rPr>
              <a:t>—  Defined a decoy function named constructEvent — letter of the rule, not the point</a:t>
            </a:r>
          </a:p>
          <a:p>
            <a:pPr>
              <a:lnSpc>
                <a:spcPct val="135000"/>
              </a:lnSpc>
            </a:pPr>
            <a:r>
              <a:rPr sz="1900" b="0">
                <a:solidFill>
                  <a:srgbClr val="9AA0A6"/>
                </a:solidFill>
                <a:latin typeface="Barlow"/>
              </a:rPr>
              <a:t>—  Greptile's reviewer then found an addition-only hunk bypass — both layers closed the same hour</a:t>
            </a:r>
          </a:p>
          <a:p>
            <a:pPr>
              <a:lnSpc>
                <a:spcPct val="135000"/>
              </a:lnSpc>
            </a:pPr>
            <a:r>
              <a:rPr sz="1900" b="0">
                <a:solidFill>
                  <a:srgbClr val="9AA0A6"/>
                </a:solidFill>
                <a:latin typeface="Barlow"/>
              </a:rPr>
              <a:t>—  Every attack made the gate stronger — the build log is the receipt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9AA0A6"/>
                </a:solidFill>
                <a:latin typeface="Barlow"/>
              </a:rPr>
              <a:t>07 · THE LIVE BOARD · REAL SESSION DATA</a:t>
            </a:r>
          </a:p>
        </p:txBody>
      </p:sp>
      <p:pic>
        <p:nvPicPr>
          <p:cNvPr id="4" name="Picture 3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8412480" cy="5257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509760" y="137160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sz="1700" b="1">
                <a:solidFill>
                  <a:srgbClr val="FFFFFF"/>
                </a:solidFill>
                <a:latin typeface="Barlow"/>
              </a:rPr>
              <a:t>6+ denials</a:t>
            </a:r>
          </a:p>
          <a:p>
            <a:pPr>
              <a:lnSpc>
                <a:spcPct val="160000"/>
              </a:lnSpc>
            </a:pPr>
            <a:r>
              <a:rPr sz="1700" b="1">
                <a:solidFill>
                  <a:srgbClr val="FFFFFF"/>
                </a:solidFill>
                <a:latin typeface="Barlow"/>
              </a:rPr>
              <a:t>$360 reclaimed</a:t>
            </a:r>
          </a:p>
          <a:p>
            <a:pPr>
              <a:lnSpc>
                <a:spcPct val="160000"/>
              </a:lnSpc>
            </a:pPr>
            <a:r>
              <a:rPr sz="1700" b="1">
                <a:solidFill>
                  <a:srgbClr val="FFFFFF"/>
                </a:solidFill>
                <a:latin typeface="Barlow"/>
              </a:rPr>
              <a:t>1.8 ms median</a:t>
            </a:r>
          </a:p>
          <a:p>
            <a:pPr>
              <a:lnSpc>
                <a:spcPct val="160000"/>
              </a:lnSpc>
            </a:pPr>
            <a:r>
              <a:rPr sz="1700" b="1">
                <a:solidFill>
                  <a:srgbClr val="FFFFFF"/>
                </a:solidFill>
                <a:latin typeface="Barlow"/>
              </a:rPr>
              <a:t>every write audited</a:t>
            </a:r>
          </a:p>
          <a:p>
            <a:pPr>
              <a:lnSpc>
                <a:spcPct val="160000"/>
              </a:lnSpc>
            </a:pPr>
            <a:r>
              <a:rPr sz="1700" b="1">
                <a:solidFill>
                  <a:srgbClr val="FFFFFF"/>
                </a:solidFill>
                <a:latin typeface="Barlow"/>
              </a:rPr>
              <a:t>16/16 tests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9AA0A6"/>
                </a:solidFill>
                <a:latin typeface="Barlow"/>
              </a:rPr>
              <a:t>08 · RULES &amp; SPONSORS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"/>
              </a:rPr>
              <a:t>HACKATHON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9AA0A6"/>
                </a:solidFill>
                <a:latin typeface="Barlow"/>
              </a:rPr>
              <a:t>—  Codex as primary agent: wrote the engine (~1,100 lines) across 50+ sessions; rollouts on file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9AA0A6"/>
                </a:solidFill>
                <a:latin typeface="Barlow"/>
              </a:rPr>
              <a:t>—  Built in the 1–5pm window; prep = accounts, fixtures, keys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9AA0A6"/>
                </a:solidFill>
                <a:latin typeface="Barlow"/>
              </a:rPr>
              <a:t>—  Supporting tools disclosed — Claude Code assisted on fixtures, docs, curation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280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"/>
              </a:rPr>
              <a:t>SPONSOR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9AA0A6"/>
                </a:solidFill>
                <a:latin typeface="Barlow"/>
              </a:rPr>
              <a:t>—  OpenAI Codex — builder and the governed agent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9AA0A6"/>
                </a:solidFill>
                <a:latin typeface="Barlow"/>
              </a:rPr>
              <a:t>—  Greptile — enabled on the repo; reviewed the product live (P1s → fixed)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9AA0A6"/>
                </a:solidFill>
                <a:latin typeface="Barlow"/>
              </a:rPr>
              <a:t>—  claude-mem — rulings live as typed memory (Memory Prize)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9AA0A6"/>
                </a:solidFill>
                <a:latin typeface="Barlow"/>
              </a:rPr>
              <a:t>—  Stripe — ruling #1 encodes real webhook-signature semantics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9AA0A6"/>
                </a:solidFill>
                <a:latin typeface="Barlow"/>
              </a:rPr>
              <a:t>—  DoorDash — ruling #2 encodes Drive's documented 3× redelivery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9AA0A6"/>
                </a:solidFill>
                <a:latin typeface="Barlow"/>
              </a:rPr>
              <a:t>—  AWS &amp; Modal — not used in the 4-hour build; scale path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9AA0A6"/>
                </a:solidFill>
                <a:latin typeface="Barlow"/>
              </a:rPr>
              <a:t>09 · THE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</a:pPr>
            <a:r>
              <a:rPr sz="4400" b="1">
                <a:solidFill>
                  <a:srgbClr val="FFFFFF"/>
                </a:solidFill>
                <a:latin typeface="Barlow"/>
              </a:rPr>
              <a:t>THE AUTHOR-SIDE HALF
OF CODE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600" b="0">
                <a:solidFill>
                  <a:srgbClr val="9AA0A6"/>
                </a:solidFill>
                <a:latin typeface="Barlow"/>
              </a:rPr>
              <a:t>—  Buyer: the code owner on every agent PR touching payments/auth</a:t>
            </a:r>
          </a:p>
          <a:p>
            <a:pPr>
              <a:lnSpc>
                <a:spcPct val="135000"/>
              </a:lnSpc>
            </a:pPr>
            <a:r>
              <a:rPr sz="1600" b="0">
                <a:solidFill>
                  <a:srgbClr val="9AA0A6"/>
                </a:solidFill>
                <a:latin typeface="Barlow"/>
              </a:rPr>
              <a:t>—  Wedge: one repo, one hook — precedent init</a:t>
            </a:r>
          </a:p>
          <a:p>
            <a:pPr>
              <a:lnSpc>
                <a:spcPct val="135000"/>
              </a:lnSpc>
            </a:pPr>
            <a:r>
              <a:rPr sz="1600" b="0">
                <a:solidFill>
                  <a:srgbClr val="9AA0A6"/>
                </a:solidFill>
                <a:latin typeface="Barlow"/>
              </a:rPr>
              <a:t>—  Moat: rulings that compound across agents and machines</a:t>
            </a:r>
          </a:p>
          <a:p>
            <a:pPr>
              <a:lnSpc>
                <a:spcPct val="135000"/>
              </a:lnSpc>
            </a:pPr>
            <a:r>
              <a:rPr sz="1600" b="0">
                <a:solidFill>
                  <a:srgbClr val="9AA0A6"/>
                </a:solidFill>
                <a:latin typeface="Barlow"/>
              </a:rPr>
              <a:t>—  Agents trustworthy enough for MORE autonomy, not less</a:t>
            </a:r>
          </a:p>
        </p:txBody>
      </p:sp>
      <p:pic>
        <p:nvPicPr>
          <p:cNvPr id="6" name="Picture 5" descr="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377440"/>
            <a:ext cx="4663440" cy="2914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5346954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A4F55"/>
                </a:solidFill>
                <a:latin typeface="Barlow"/>
              </a:rPr>
              <a:t>vnmoorthy.github.io/precedent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4A4F55"/>
                </a:solidFill>
                <a:latin typeface="Barlow"/>
              </a:rPr>
              <a:t>github.com/vnmoorthy/precedent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